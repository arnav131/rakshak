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0360"/>
            <a:ext cx="3945954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Rakshak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142479"/>
            <a:ext cx="8151763" cy="1203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AI-Powered Predictive Railway Safety System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496119" y="2552105"/>
            <a:ext cx="8151763" cy="597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Predict. Prevent. Protect.</a:t>
            </a:r>
            <a:endParaRPr lang="en-US" sz="10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national-level hackathon project combining IoT, AI, and predictive analytics to transform railway safety.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96119" y="3308747"/>
            <a:ext cx="1045146" cy="260821"/>
          </a:xfrm>
          <a:prstGeom prst="roundRect">
            <a:avLst>
              <a:gd name="adj" fmla="val 17978"/>
            </a:avLst>
          </a:prstGeom>
          <a:solidFill>
            <a:srgbClr val="DADBF1"/>
          </a:solidFill>
          <a:ln/>
        </p:spPr>
      </p:sp>
      <p:sp>
        <p:nvSpPr>
          <p:cNvPr id="6" name="Text 4"/>
          <p:cNvSpPr/>
          <p:nvPr/>
        </p:nvSpPr>
        <p:spPr>
          <a:xfrm>
            <a:off x="579834" y="3350568"/>
            <a:ext cx="1334914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RAKSHAK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10990" y="3303984"/>
            <a:ext cx="1189955" cy="270346"/>
          </a:xfrm>
          <a:prstGeom prst="roundRect">
            <a:avLst>
              <a:gd name="adj" fmla="val 17344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9468" y="3350568"/>
            <a:ext cx="147019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HACKATHON 2024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96119" y="3728814"/>
            <a:ext cx="8151763" cy="759768"/>
          </a:xfrm>
          <a:prstGeom prst="roundRect">
            <a:avLst>
              <a:gd name="adj" fmla="val 7714"/>
            </a:avLst>
          </a:prstGeom>
          <a:solidFill>
            <a:srgbClr val="C7C9E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645" y="3928690"/>
            <a:ext cx="174427" cy="13952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49598" y="3887242"/>
            <a:ext cx="75587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Speaker Notes: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Welcome the judges and introduce the team. Emphasize that Project Rakshak addresses a critical infrastructure challenge using modern AI and IoT technologies. Set the stage for a 5–7 minute presentation.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19857"/>
            <a:ext cx="4474518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Railway Safety Challenge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496119" y="995735"/>
            <a:ext cx="472276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Railway infrastructure is under constant stress. Without proactive monitoring, hidden defects become catastrophic failures.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463948"/>
            <a:ext cx="2307282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3,000+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941189" y="1949723"/>
            <a:ext cx="1417141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Annual Rail Incidents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96119" y="2174602"/>
            <a:ext cx="2307282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Globally attributed to track defects and delayed maintenance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2911525" y="1463948"/>
            <a:ext cx="2307357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70%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3372966" y="1949723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Reactive Repairs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911525" y="2174602"/>
            <a:ext cx="2307357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maintenance work is performed after a failure is detected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703784" y="2718495"/>
            <a:ext cx="2307357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$4B</a:t>
            </a:r>
            <a:endParaRPr lang="en-US" sz="2850" dirty="0"/>
          </a:p>
        </p:txBody>
      </p:sp>
      <p:sp>
        <p:nvSpPr>
          <p:cNvPr id="12" name="Text 9"/>
          <p:cNvSpPr/>
          <p:nvPr/>
        </p:nvSpPr>
        <p:spPr>
          <a:xfrm>
            <a:off x="2165226" y="3204270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Annual Cost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703784" y="3429149"/>
            <a:ext cx="2307357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Estimated global cost of rail accidents and unplanned downtime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96119" y="3841998"/>
            <a:ext cx="4722763" cy="684312"/>
          </a:xfrm>
          <a:prstGeom prst="roundRect">
            <a:avLst>
              <a:gd name="adj" fmla="val 6798"/>
            </a:avLst>
          </a:prstGeom>
          <a:solidFill>
            <a:srgbClr val="C7C9E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847" y="3988296"/>
            <a:ext cx="138410" cy="11072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5985" y="3947517"/>
            <a:ext cx="4252168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Speaker Notes: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Open with the scale of the problem. These statistics underscore why reactive maintenance is unsustainable. Highlight that most incidents are preventable with the right technology — which is exactly what Rakshak delivers.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437183"/>
            <a:ext cx="491140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Limitations of Traditional Maintenance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875" y="902791"/>
            <a:ext cx="3169965" cy="31699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92923" y="1830139"/>
            <a:ext cx="185573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the Old Model Fails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692923" y="2042964"/>
            <a:ext cx="3169965" cy="509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rail maintenance relies on fixed schedules and human inspectors — a model that is costly, slow, and inherently reactive. Defects are only found after they cause visible damage or service disruption.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4692923" y="2610148"/>
            <a:ext cx="3169965" cy="576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Inspections occur weeks apart, missing rapid degradation</a:t>
            </a:r>
            <a:endParaRPr lang="en-US" sz="750" dirty="0"/>
          </a:p>
          <a:p>
            <a:pPr algn="l" marL="342900" indent="-342900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error introduces inconsistency</a:t>
            </a:r>
            <a:endParaRPr lang="en-US" sz="750" dirty="0"/>
          </a:p>
          <a:p>
            <a:pPr algn="l" marL="342900" indent="-342900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Resources are allocated inefficiently</a:t>
            </a:r>
            <a:endParaRPr lang="en-US" sz="750" dirty="0"/>
          </a:p>
          <a:p>
            <a:pPr algn="l" marL="342900" indent="-342900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Downtime is unplanned and expensive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285875" y="4216673"/>
            <a:ext cx="6572250" cy="417612"/>
          </a:xfrm>
          <a:prstGeom prst="roundRect">
            <a:avLst>
              <a:gd name="adj" fmla="val 9579"/>
            </a:avLst>
          </a:prstGeom>
          <a:solidFill>
            <a:srgbClr val="C7C9E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5" y="4338117"/>
            <a:ext cx="119062" cy="952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95438" y="4298082"/>
            <a:ext cx="6167438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Speaker Notes:</a:t>
            </a:r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Walk through the comparison. Emphasize that the traditional model is not just inefficient — it's dangerous. The split infographic makes the contrast clear: Rakshak flips the paradigm from reactive to proactive.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5631"/>
            <a:ext cx="47893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Introducing Project Rakshak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96119" y="1025054"/>
            <a:ext cx="8151763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Rakshak is an end-to-end intelligent safety platform that continuously monitors railway infrastructure and predicts failures before they occur.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33451"/>
            <a:ext cx="252487" cy="2524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1926431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IoT Sensors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96119" y="2191122"/>
            <a:ext cx="262354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Vibration, temperature, and strain sensors deployed across track sections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154" y="1533451"/>
            <a:ext cx="252487" cy="2524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60154" y="1926431"/>
            <a:ext cx="1659880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Monitoring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260154" y="2191122"/>
            <a:ext cx="2623617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data streams processed continuously with sub-second latency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4265" y="1533451"/>
            <a:ext cx="252487" cy="25248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24265" y="1926431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024265" y="2191122"/>
            <a:ext cx="2623617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models trained on historical failure data to detect anomalies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2797894"/>
            <a:ext cx="252487" cy="25248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6119" y="3190875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Predictive Analytics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96119" y="3455566"/>
            <a:ext cx="262354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 probability scores generated for every monitored track segment</a:t>
            </a:r>
            <a:endParaRPr lang="en-US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60154" y="2797894"/>
            <a:ext cx="252487" cy="25248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60154" y="3190875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Automated Alerts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3260154" y="3455566"/>
            <a:ext cx="2623617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notifications and maintenance tickets triggered automatically</a:t>
            </a:r>
            <a:endParaRPr lang="en-US" sz="950" dirty="0"/>
          </a:p>
        </p:txBody>
      </p:sp>
      <p:sp>
        <p:nvSpPr>
          <p:cNvPr id="19" name="Shape 12"/>
          <p:cNvSpPr/>
          <p:nvPr/>
        </p:nvSpPr>
        <p:spPr>
          <a:xfrm>
            <a:off x="496119" y="3963963"/>
            <a:ext cx="8151763" cy="647402"/>
          </a:xfrm>
          <a:prstGeom prst="roundRect">
            <a:avLst>
              <a:gd name="adj" fmla="val 8191"/>
            </a:avLst>
          </a:prstGeom>
          <a:solidFill>
            <a:srgbClr val="C7C9EA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2325" y="4139878"/>
            <a:ext cx="157758" cy="12620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06289" y="4096717"/>
            <a:ext cx="761538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Speaker Notes: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This is the core solution slide. Rakshak brings together five key capabilities into one unified platform. Each component plays a specific role — from data collection to action — creating a closed-loop safety system.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395660"/>
            <a:ext cx="284745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1285875" y="821308"/>
            <a:ext cx="7029450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flows seamlessly from the physical railway environment through intelligent processing layers to actionable insights for maintenance teams.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875" y="1020663"/>
            <a:ext cx="6572250" cy="28388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854197" y="2958669"/>
            <a:ext cx="975854" cy="355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Collection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854197" y="3364691"/>
            <a:ext cx="975854" cy="237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gateway using MQTT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359938" y="3136402"/>
            <a:ext cx="975853" cy="177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Prediction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359938" y="3364691"/>
            <a:ext cx="975853" cy="237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SensorVAE and HGNN models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604438" y="1276821"/>
            <a:ext cx="975853" cy="355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Railway Sensors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604438" y="1682842"/>
            <a:ext cx="975853" cy="356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Vibration, temperature, strain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572472" y="1276821"/>
            <a:ext cx="975853" cy="355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Alert Generation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572472" y="1682842"/>
            <a:ext cx="975853" cy="237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Threshold-based triggers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122619" y="1276821"/>
            <a:ext cx="975854" cy="355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Cloud Database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22619" y="1682842"/>
            <a:ext cx="975854" cy="237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time-series storage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285875" y="3931444"/>
            <a:ext cx="6572250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architecture is designed for high availability and low latency — critical for safety-critical railway operations. Each layer is independently scalable and fault-tolerant.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1285875" y="4258196"/>
            <a:ext cx="6572250" cy="417612"/>
          </a:xfrm>
          <a:prstGeom prst="roundRect">
            <a:avLst>
              <a:gd name="adj" fmla="val 9579"/>
            </a:avLst>
          </a:prstGeom>
          <a:solidFill>
            <a:srgbClr val="C7C9E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5" y="4379640"/>
            <a:ext cx="119062" cy="9525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595438" y="4339605"/>
            <a:ext cx="6167438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Speaker Notes:</a:t>
            </a:r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Walk through the data pipeline from left to right. Emphasize that the architecture is modular — each layer can be upgraded independently. The AI Prediction Engine is the heart of the system, where raw sensor data becomes actionable intelligence.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437183"/>
            <a:ext cx="283845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 Stack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875" y="902791"/>
            <a:ext cx="3169965" cy="31699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92923" y="1830139"/>
            <a:ext cx="211001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Built for Scale and Reliability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692923" y="2042964"/>
            <a:ext cx="3169965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Rakshak's stack is chosen for production readiness, open-source flexibility, and AI capability.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4692923" y="2355354"/>
            <a:ext cx="3169965" cy="831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1000"/>
              </a:lnSpc>
              <a:buSzPct val="100000"/>
              <a:buChar char="•"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SensorVAE:</a:t>
            </a:r>
            <a:pPr algn="l" marL="342900" indent="-342900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Variational autoencoder for unsupervised anomaly detection</a:t>
            </a:r>
            <a:endParaRPr lang="en-US" sz="750" dirty="0"/>
          </a:p>
          <a:p>
            <a:pPr algn="l" marL="342900" indent="-342900">
              <a:lnSpc>
                <a:spcPct val="111000"/>
              </a:lnSpc>
              <a:buSzPct val="100000"/>
              <a:buChar char="•"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HGNN:</a:t>
            </a:r>
            <a:pPr algn="l" marL="342900" indent="-342900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Hypergraph neural network for multi-sensor correlation</a:t>
            </a:r>
            <a:endParaRPr lang="en-US" sz="750" dirty="0"/>
          </a:p>
          <a:p>
            <a:pPr algn="l" marL="342900" indent="-342900">
              <a:lnSpc>
                <a:spcPct val="111000"/>
              </a:lnSpc>
              <a:buSzPct val="100000"/>
              <a:buChar char="•"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Django + PostgreSQL:</a:t>
            </a:r>
            <a:pPr algn="l" marL="342900" indent="-342900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Proven, scalable backend for real-time workloads</a:t>
            </a:r>
            <a:endParaRPr lang="en-US" sz="750" dirty="0"/>
          </a:p>
          <a:p>
            <a:pPr algn="l" marL="342900" indent="-342900">
              <a:lnSpc>
                <a:spcPct val="111000"/>
              </a:lnSpc>
              <a:buSzPct val="100000"/>
              <a:buChar char="•"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GitHub:</a:t>
            </a:r>
            <a:pPr algn="l" marL="342900" indent="-342900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Version-controlled, CI/CD-ready deployment pipeline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285875" y="4216673"/>
            <a:ext cx="6572250" cy="417612"/>
          </a:xfrm>
          <a:prstGeom prst="roundRect">
            <a:avLst>
              <a:gd name="adj" fmla="val 9579"/>
            </a:avLst>
          </a:prstGeom>
          <a:solidFill>
            <a:srgbClr val="C7C9E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5" y="4338117"/>
            <a:ext cx="119062" cy="952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95438" y="4298082"/>
            <a:ext cx="6167438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Speaker Notes:</a:t>
            </a:r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Highlight the AI models specifically — SensorVAE and HGNN are the technical differentiators. These are not off-the-shelf solutions; they're purpose-built for multi-sensor railway data. The rest of the stack is enterprise-grade and battle-tested.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410394"/>
            <a:ext cx="322607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the AI Works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50912" y="929506"/>
            <a:ext cx="8099301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prediction engine transforms raw sensor signals into actionable failure forecasts through a five-stage intelligent pipeline.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912" y="1184597"/>
            <a:ext cx="2547342" cy="4429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1640" y="1714054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Collect Data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861640" y="1938933"/>
            <a:ext cx="2325886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Sensors stream vibration, temperature, and strain data</a:t>
            </a:r>
            <a:endParaRPr lang="en-US" sz="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254" y="1184597"/>
            <a:ext cx="2547342" cy="4429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08983" y="1714054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Detect Anomalies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3408983" y="1938933"/>
            <a:ext cx="2325886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SensorVAE flags deviations from normal patterns</a:t>
            </a:r>
            <a:endParaRPr lang="en-US" sz="8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5597" y="1184597"/>
            <a:ext cx="2547342" cy="44298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56325" y="1714054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Analyze Patterns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5956325" y="1938933"/>
            <a:ext cx="2325886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HGNN correlates multi-sensor signals across track segments</a:t>
            </a:r>
            <a:endParaRPr lang="en-US" sz="8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912" y="2365177"/>
            <a:ext cx="2547342" cy="44298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1640" y="2894633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 Failures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861640" y="3119512"/>
            <a:ext cx="232588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models output failure probability scores</a:t>
            </a:r>
            <a:endParaRPr lang="en-US" sz="8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8254" y="2365177"/>
            <a:ext cx="2547342" cy="44298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408983" y="2894633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Generate Alerts</a:t>
            </a:r>
            <a:endParaRPr lang="en-US" sz="1050" dirty="0"/>
          </a:p>
        </p:txBody>
      </p:sp>
      <p:sp>
        <p:nvSpPr>
          <p:cNvPr id="18" name="Text 11"/>
          <p:cNvSpPr/>
          <p:nvPr/>
        </p:nvSpPr>
        <p:spPr>
          <a:xfrm>
            <a:off x="3408983" y="3119512"/>
            <a:ext cx="2325886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tickets and notifications dispatched instantly</a:t>
            </a:r>
            <a:endParaRPr lang="en-US" sz="850" dirty="0"/>
          </a:p>
        </p:txBody>
      </p:sp>
      <p:sp>
        <p:nvSpPr>
          <p:cNvPr id="19" name="Shape 12"/>
          <p:cNvSpPr/>
          <p:nvPr/>
        </p:nvSpPr>
        <p:spPr>
          <a:xfrm>
            <a:off x="750912" y="3643089"/>
            <a:ext cx="7642101" cy="368796"/>
          </a:xfrm>
          <a:prstGeom prst="roundRect">
            <a:avLst>
              <a:gd name="adj" fmla="val 12613"/>
            </a:avLst>
          </a:prstGeom>
          <a:solidFill>
            <a:srgbClr val="B6FCB8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640" y="3789387"/>
            <a:ext cx="138410" cy="11072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110779" y="3748608"/>
            <a:ext cx="7628706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Insight: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Failures are predicted </a:t>
            </a:r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 in advance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before any accident can occur.</a:t>
            </a:r>
            <a:endParaRPr lang="en-US" sz="850" dirty="0"/>
          </a:p>
        </p:txBody>
      </p:sp>
      <p:sp>
        <p:nvSpPr>
          <p:cNvPr id="22" name="Shape 14"/>
          <p:cNvSpPr/>
          <p:nvPr/>
        </p:nvSpPr>
        <p:spPr>
          <a:xfrm>
            <a:off x="750912" y="4109219"/>
            <a:ext cx="7642101" cy="526554"/>
          </a:xfrm>
          <a:prstGeom prst="roundRect">
            <a:avLst>
              <a:gd name="adj" fmla="val 8834"/>
            </a:avLst>
          </a:prstGeom>
          <a:solidFill>
            <a:srgbClr val="C7C9EA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640" y="4255517"/>
            <a:ext cx="138410" cy="11072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110779" y="4214738"/>
            <a:ext cx="7171506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Speaker Notes: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This is the technical heart of the presentation. The five-stage pipeline shows how raw data becomes a safety action. Emphasize that the system predicts failures days in advance — that's the game-changer for railway safety.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393948"/>
            <a:ext cx="381297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Monitoring Dashboard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875" y="859557"/>
            <a:ext cx="4190628" cy="23746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3586" y="1752526"/>
            <a:ext cx="255969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Command Center for Railway Safety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713586" y="1965350"/>
            <a:ext cx="2149227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Rakshak dashboard gives operators a single pane of glass across the entire rail network.</a:t>
            </a:r>
            <a:endParaRPr lang="en-US" sz="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1588" y="3378101"/>
            <a:ext cx="1609353" cy="8099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38275" y="3487638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Alerts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438275" y="3674864"/>
            <a:ext cx="1333128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Priority-ranked notifications pushed instantly to field teams</a:t>
            </a:r>
            <a:endParaRPr lang="en-US" sz="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30649" y="3378101"/>
            <a:ext cx="1609353" cy="8099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097337" y="3487638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 Scoring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3097337" y="3674864"/>
            <a:ext cx="1333128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track segment assigned a live failure probability score</a:t>
            </a:r>
            <a:endParaRPr lang="en-US" sz="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89711" y="3378101"/>
            <a:ext cx="1609353" cy="8099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56398" y="3487638"/>
            <a:ext cx="121488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Maintenance Tickets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4756398" y="3674864"/>
            <a:ext cx="1333128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Auto-generated work orders with location and severity data</a:t>
            </a:r>
            <a:endParaRPr lang="en-US" sz="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48772" y="3378101"/>
            <a:ext cx="1609353" cy="80992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415460" y="3487638"/>
            <a:ext cx="133312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Network Health Overview</a:t>
            </a:r>
            <a:endParaRPr lang="en-US" sz="900" dirty="0"/>
          </a:p>
        </p:txBody>
      </p:sp>
      <p:sp>
        <p:nvSpPr>
          <p:cNvPr id="17" name="Text 10"/>
          <p:cNvSpPr/>
          <p:nvPr/>
        </p:nvSpPr>
        <p:spPr>
          <a:xfrm>
            <a:off x="6415460" y="3823692"/>
            <a:ext cx="1333128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System-wide status map with color-coded risk zones</a:t>
            </a:r>
            <a:endParaRPr lang="en-US" sz="750" dirty="0"/>
          </a:p>
        </p:txBody>
      </p:sp>
      <p:sp>
        <p:nvSpPr>
          <p:cNvPr id="18" name="Shape 11"/>
          <p:cNvSpPr/>
          <p:nvPr/>
        </p:nvSpPr>
        <p:spPr>
          <a:xfrm>
            <a:off x="1285875" y="4259982"/>
            <a:ext cx="6572250" cy="417612"/>
          </a:xfrm>
          <a:prstGeom prst="roundRect">
            <a:avLst>
              <a:gd name="adj" fmla="val 9579"/>
            </a:avLst>
          </a:prstGeom>
          <a:solidFill>
            <a:srgbClr val="C7C9EA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81125" y="4381426"/>
            <a:ext cx="119062" cy="9525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595438" y="4341391"/>
            <a:ext cx="6167438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Speaker Notes:</a:t>
            </a:r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dashboard is the operator's daily interface. Walk through each feature — especially the risk scoring and auto-generated tickets. This is where AI predictions become real-world actions that maintenance teams can act on immediately.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0838" y="454298"/>
            <a:ext cx="30632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Failure Prediction in Action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1820838" y="793105"/>
            <a:ext cx="5959525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real-world scenario demonstrating how Rakshak prevents accidents before they happen.</a:t>
            </a:r>
            <a:endParaRPr lang="en-US" sz="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0838" y="993725"/>
            <a:ext cx="2653903" cy="26539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74022" y="2088579"/>
            <a:ext cx="1712119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Scenario: Track Section A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4674022" y="2258020"/>
            <a:ext cx="2653903" cy="299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Sensors detect an anomalous vibration signature. Within seconds, the AI engine assesses the data and assigns an </a:t>
            </a:r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87% failure probability</a:t>
            </a:r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within the next 48 hours.</a:t>
            </a:r>
            <a:endParaRPr lang="en-US" sz="600" dirty="0"/>
          </a:p>
        </p:txBody>
      </p:sp>
      <p:sp>
        <p:nvSpPr>
          <p:cNvPr id="7" name="Shape 4"/>
          <p:cNvSpPr/>
          <p:nvPr/>
        </p:nvSpPr>
        <p:spPr>
          <a:xfrm>
            <a:off x="1820838" y="3748534"/>
            <a:ext cx="1804243" cy="519857"/>
          </a:xfrm>
          <a:prstGeom prst="roundRect">
            <a:avLst>
              <a:gd name="adj" fmla="val 644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05298" y="3832994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Alert Generated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905298" y="3984501"/>
            <a:ext cx="1635323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notification to operations center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3669878" y="3748534"/>
            <a:ext cx="1804243" cy="519857"/>
          </a:xfrm>
          <a:prstGeom prst="roundRect">
            <a:avLst>
              <a:gd name="adj" fmla="val 644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54338" y="3832994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🎫</a:t>
            </a:r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Ticket Created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754338" y="3984501"/>
            <a:ext cx="1635323" cy="199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Auto-assigned to nearest maintenance crew</a:t>
            </a:r>
            <a:endParaRPr lang="en-US" sz="600" dirty="0"/>
          </a:p>
        </p:txBody>
      </p:sp>
      <p:sp>
        <p:nvSpPr>
          <p:cNvPr id="13" name="Shape 10"/>
          <p:cNvSpPr/>
          <p:nvPr/>
        </p:nvSpPr>
        <p:spPr>
          <a:xfrm>
            <a:off x="5518919" y="3748534"/>
            <a:ext cx="1804243" cy="519857"/>
          </a:xfrm>
          <a:prstGeom prst="roundRect">
            <a:avLst>
              <a:gd name="adj" fmla="val 644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03379" y="3832994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Issue Resolved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603379" y="3984501"/>
            <a:ext cx="1635323" cy="199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Repair completed before any incident occurs</a:t>
            </a:r>
            <a:endParaRPr lang="en-US" sz="600" dirty="0"/>
          </a:p>
        </p:txBody>
      </p:sp>
      <p:sp>
        <p:nvSpPr>
          <p:cNvPr id="16" name="Shape 13"/>
          <p:cNvSpPr/>
          <p:nvPr/>
        </p:nvSpPr>
        <p:spPr>
          <a:xfrm>
            <a:off x="1820838" y="4318843"/>
            <a:ext cx="5502325" cy="319832"/>
          </a:xfrm>
          <a:prstGeom prst="roundRect">
            <a:avLst>
              <a:gd name="adj" fmla="val 10472"/>
            </a:avLst>
          </a:prstGeom>
          <a:solidFill>
            <a:srgbClr val="C7C9E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535" y="4420046"/>
            <a:ext cx="99640" cy="7969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079873" y="4379044"/>
            <a:ext cx="5163592" cy="199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Speaker Notes:</a:t>
            </a:r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This is the storytelling slide. Walk through the timeline step by step — from detection to resolution. The 87% failure probability is the key moment: the system doesn't just flag a problem, it quantifies risk and triggers action automatically.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531" y="389855"/>
            <a:ext cx="267771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 &amp; The Road Ahead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126531" y="717575"/>
            <a:ext cx="1600795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60%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483941" y="1013445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Fewer Accidents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2126531" y="1145381"/>
            <a:ext cx="1600795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Projected reduction through proactive defect detection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3771602" y="717575"/>
            <a:ext cx="1600795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40%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29013" y="1013445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Lower Costs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3771602" y="1145381"/>
            <a:ext cx="1600795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Estimated savings from reduced unplanned maintenance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5416674" y="717575"/>
            <a:ext cx="1600795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3x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774085" y="1013445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Faster Response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5416674" y="1145381"/>
            <a:ext cx="1600795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alerts accelerate maintenance team deployment</a:t>
            </a:r>
            <a:endParaRPr lang="en-US" sz="550" dirty="0"/>
          </a:p>
        </p:txBody>
      </p:sp>
      <p:sp>
        <p:nvSpPr>
          <p:cNvPr id="12" name="Text 10"/>
          <p:cNvSpPr/>
          <p:nvPr/>
        </p:nvSpPr>
        <p:spPr>
          <a:xfrm>
            <a:off x="2126531" y="1368623"/>
            <a:ext cx="140203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Enhancements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2126531" y="1532483"/>
            <a:ext cx="283518" cy="425276"/>
          </a:xfrm>
          <a:prstGeom prst="roundRect">
            <a:avLst>
              <a:gd name="adj" fmla="val 36002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15158" y="1691953"/>
            <a:ext cx="106263" cy="10626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445469" y="1603325"/>
            <a:ext cx="102810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 Railway Integration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2126531" y="1993181"/>
            <a:ext cx="283518" cy="425276"/>
          </a:xfrm>
          <a:prstGeom prst="roundRect">
            <a:avLst>
              <a:gd name="adj" fmla="val 36002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15158" y="2152650"/>
            <a:ext cx="106263" cy="10626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445469" y="2064023"/>
            <a:ext cx="110743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Drone Inspection Support</a:t>
            </a:r>
            <a:endParaRPr lang="en-US" sz="650" dirty="0"/>
          </a:p>
        </p:txBody>
      </p:sp>
      <p:sp>
        <p:nvSpPr>
          <p:cNvPr id="19" name="Shape 15"/>
          <p:cNvSpPr/>
          <p:nvPr/>
        </p:nvSpPr>
        <p:spPr>
          <a:xfrm>
            <a:off x="2126531" y="2453878"/>
            <a:ext cx="283518" cy="425276"/>
          </a:xfrm>
          <a:prstGeom prst="roundRect">
            <a:avLst>
              <a:gd name="adj" fmla="val 36002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15158" y="2613347"/>
            <a:ext cx="106263" cy="10626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445469" y="2524720"/>
            <a:ext cx="122039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Computer Vision Monitoring</a:t>
            </a:r>
            <a:endParaRPr lang="en-US" sz="650" dirty="0"/>
          </a:p>
        </p:txBody>
      </p:sp>
      <p:sp>
        <p:nvSpPr>
          <p:cNvPr id="22" name="Shape 17"/>
          <p:cNvSpPr/>
          <p:nvPr/>
        </p:nvSpPr>
        <p:spPr>
          <a:xfrm>
            <a:off x="2126531" y="2914576"/>
            <a:ext cx="283518" cy="425276"/>
          </a:xfrm>
          <a:prstGeom prst="roundRect">
            <a:avLst>
              <a:gd name="adj" fmla="val 36002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15158" y="3074045"/>
            <a:ext cx="106263" cy="10626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445469" y="2985418"/>
            <a:ext cx="125410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Digital Twin Railway Network</a:t>
            </a:r>
            <a:endParaRPr lang="en-US" sz="650" dirty="0"/>
          </a:p>
        </p:txBody>
      </p:sp>
      <p:sp>
        <p:nvSpPr>
          <p:cNvPr id="25" name="Shape 19"/>
          <p:cNvSpPr/>
          <p:nvPr/>
        </p:nvSpPr>
        <p:spPr>
          <a:xfrm>
            <a:off x="2126531" y="3375273"/>
            <a:ext cx="283518" cy="425276"/>
          </a:xfrm>
          <a:prstGeom prst="roundRect">
            <a:avLst>
              <a:gd name="adj" fmla="val 36002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15158" y="3534742"/>
            <a:ext cx="106263" cy="10626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445469" y="3446115"/>
            <a:ext cx="116495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National Scale Deployment</a:t>
            </a:r>
            <a:endParaRPr lang="en-US" sz="650" dirty="0"/>
          </a:p>
        </p:txBody>
      </p:sp>
      <p:sp>
        <p:nvSpPr>
          <p:cNvPr id="28" name="Shape 21"/>
          <p:cNvSpPr/>
          <p:nvPr/>
        </p:nvSpPr>
        <p:spPr>
          <a:xfrm>
            <a:off x="2126531" y="3858071"/>
            <a:ext cx="4890939" cy="8855"/>
          </a:xfrm>
          <a:prstGeom prst="roundRect">
            <a:avLst>
              <a:gd name="adj" fmla="val 336207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29" name="Text 22"/>
          <p:cNvSpPr/>
          <p:nvPr/>
        </p:nvSpPr>
        <p:spPr>
          <a:xfrm>
            <a:off x="2126531" y="3937769"/>
            <a:ext cx="174114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 — Project Rakshak</a:t>
            </a:r>
            <a:endParaRPr lang="en-US" sz="650" dirty="0"/>
          </a:p>
        </p:txBody>
      </p:sp>
      <p:sp>
        <p:nvSpPr>
          <p:cNvPr id="30" name="Text 23"/>
          <p:cNvSpPr/>
          <p:nvPr/>
        </p:nvSpPr>
        <p:spPr>
          <a:xfrm>
            <a:off x="2126531" y="4101629"/>
            <a:ext cx="4890939" cy="20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Predict. Prevent. Protect.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"Building a safer railway network through AI-driven predictive intelligence."</a:t>
            </a:r>
            <a:endParaRPr lang="en-US" sz="550" dirty="0"/>
          </a:p>
        </p:txBody>
      </p:sp>
      <p:sp>
        <p:nvSpPr>
          <p:cNvPr id="31" name="Shape 24"/>
          <p:cNvSpPr/>
          <p:nvPr/>
        </p:nvSpPr>
        <p:spPr>
          <a:xfrm>
            <a:off x="2126531" y="4356125"/>
            <a:ext cx="808360" cy="110430"/>
          </a:xfrm>
          <a:prstGeom prst="roundRect">
            <a:avLst>
              <a:gd name="adj" fmla="val 21567"/>
            </a:avLst>
          </a:prstGeom>
          <a:solidFill>
            <a:srgbClr val="DADBF1"/>
          </a:solidFill>
          <a:ln/>
        </p:spPr>
      </p:sp>
      <p:sp>
        <p:nvSpPr>
          <p:cNvPr id="32" name="Text 25"/>
          <p:cNvSpPr/>
          <p:nvPr/>
        </p:nvSpPr>
        <p:spPr>
          <a:xfrm>
            <a:off x="2169021" y="4377333"/>
            <a:ext cx="1180579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GITHUB: /TEAM-RAKSHAK</a:t>
            </a:r>
            <a:endParaRPr lang="en-US" sz="400" dirty="0"/>
          </a:p>
        </p:txBody>
      </p:sp>
      <p:sp>
        <p:nvSpPr>
          <p:cNvPr id="33" name="Shape 26"/>
          <p:cNvSpPr/>
          <p:nvPr/>
        </p:nvSpPr>
        <p:spPr>
          <a:xfrm>
            <a:off x="2970312" y="4351362"/>
            <a:ext cx="957858" cy="119955"/>
          </a:xfrm>
          <a:prstGeom prst="roundRect">
            <a:avLst>
              <a:gd name="adj" fmla="val 19855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3017565" y="4377333"/>
            <a:ext cx="1320552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CONTACT: TEAM@RAKSHAK.IO</a:t>
            </a:r>
            <a:endParaRPr lang="en-US" sz="400" dirty="0"/>
          </a:p>
        </p:txBody>
      </p:sp>
      <p:sp>
        <p:nvSpPr>
          <p:cNvPr id="35" name="Shape 28"/>
          <p:cNvSpPr/>
          <p:nvPr/>
        </p:nvSpPr>
        <p:spPr>
          <a:xfrm>
            <a:off x="2126531" y="4511129"/>
            <a:ext cx="4890939" cy="269230"/>
          </a:xfrm>
          <a:prstGeom prst="roundRect">
            <a:avLst>
              <a:gd name="adj" fmla="val 11058"/>
            </a:avLst>
          </a:prstGeom>
          <a:solidFill>
            <a:srgbClr val="C7C9EA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97373" y="4599682"/>
            <a:ext cx="88553" cy="7084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2356768" y="4560689"/>
            <a:ext cx="4589859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Speaker Notes: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Close with impact metrics and the vision for the future. The roadmap shows this isn't just a hackathon prototype — it's a platform designed for national deployment. End with the tagline and invite questions.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2026-06-14T10:03:46Z</dcterms:created>
  <dcterms:modified xsi:type="dcterms:W3CDTF">2026-06-14T10:03:46Z</dcterms:modified>
</cp:coreProperties>
</file>